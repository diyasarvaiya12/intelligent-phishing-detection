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64592" cy="41148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284C7"/>
                </a:solidFill>
                <a:latin typeface="Arial"/>
              </a:defRPr>
            </a:pPr>
            <a:r>
              <a:t>APPLIED CRYPTOGRAPHY &amp; NETWORK SECURITY (CNS) DESIGN CHALLENGE</a:t>
            </a:r>
          </a:p>
          <a:p>
            <a:pPr>
              <a:spcAft>
                <a:spcPts val="1400"/>
              </a:spcAft>
              <a:defRPr sz="3600" b="1">
                <a:solidFill>
                  <a:srgbClr val="1E293B"/>
                </a:solidFill>
                <a:latin typeface="Arial"/>
              </a:defRPr>
            </a:pPr>
            <a:r>
              <a:t>PhishGuard AI: Intelligent Phishing Detection &amp; Threat Intelligence</a:t>
            </a:r>
          </a:p>
          <a:p>
            <a:pPr>
              <a:spcAft>
                <a:spcPts val="2800"/>
              </a:spcAft>
              <a:defRPr sz="1500">
                <a:solidFill>
                  <a:srgbClr val="64748B"/>
                </a:solidFill>
                <a:latin typeface="Arial"/>
              </a:defRPr>
            </a:pPr>
            <a:r>
              <a:t>A Machine Learning approach using real-time Lexical Feature Analysis and an Ensemble Random Forest Classifier trained on 235,000+ benchmark domains.</a:t>
            </a:r>
          </a:p>
          <a:p>
            <a:pPr>
              <a:defRPr sz="1200" b="1">
                <a:solidFill>
                  <a:srgbClr val="1E293B"/>
                </a:solidFill>
                <a:latin typeface="Arial"/>
              </a:defRPr>
            </a:pPr>
            <a:r>
              <a:t>Team Presentation  •  Academic &amp; Viva Demonstration  •  Phase 1 Implementation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CONTEXT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t>Problem Statement: The Growing Phishing Threat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PhishGuard AI • Applied Cryptography &amp; Network Security Design Challenge   |   Slide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7548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E293B"/>
                </a:solidFill>
                <a:latin typeface="Arial"/>
              </a:defRPr>
            </a:pPr>
            <a:r>
              <a:t>The Challenge of Modern Phishing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Credential Harvesting: Phishing accounts for over 80% of reported security incidents globally.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Dynamic Obfuscation: Adversaries constantly spin up new disposable domains, subdomains, and encoded paths.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Zero-Day Threat Window: Attackers register malicious domains and deploy phishing pages within minutes, striking before detection occurs.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User Deception: Deceptive URLs visually mimic trusted brands (e.g. login.paypal.account-verify.com), deceiving even trained users.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7548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E293B"/>
                </a:solidFill>
                <a:latin typeface="Arial"/>
              </a:defRPr>
            </a:pPr>
            <a:r>
              <a:t>Why Traditional Defenses Fail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Static Blacklists (DNS / DNSBL): Rely on pre-reported lists (e.g., PhishTank, Spamhaus). New URLs bypass them effortlessly.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Detection Latency: Blacklist addition takes hours to several days, leaving critical vulnerable windows open.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Heavy Overhead: Full-page scrapers &amp; DOM inspectors require rendering web assets, downloading scripts, and parsing HTML (high latency &amp; security risks).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Our Opportunity: Proactively inspect URLs purely by lexical &amp; syntactic features in milliseconds before network requests happen.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SYSTEM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t>Proposed Solution: Proactive Lexical Threat Defense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PhishGuard AI • Applied Cryptography &amp; Network Security Design Challenge   |   Slide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29260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E293B"/>
                </a:solidFill>
                <a:latin typeface="Arial"/>
              </a:defRPr>
            </a:pPr>
            <a:r>
              <a:t>Real-Time Heuristic Engine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Zero-Payload Analysis: Evaluates URL strings directly without fetching remote servers or running malicious code.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Sub-Second Response: Extracts 17 lexical attributes and classifies threats in &lt; 15ms.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Zero-Day Detection: Recognizes syntactic manipulation patterns even on newly minted domains never seen before.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828800"/>
            <a:ext cx="29260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E293B"/>
                </a:solidFill>
                <a:latin typeface="Arial"/>
              </a:defRPr>
            </a:pPr>
            <a:r>
              <a:t>Ensemble Machine Learning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Benchmark Model: Random Forest Classifier with 100 decision trees trained on verified datasets.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Probabilistic Scoring: Computes transparent 0% to 100% Phishing Risk Score alongside binary verdict.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Robust Stratification: Validated on 47,159 test samples to ensure high generalization and 0 overfitting.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828800"/>
            <a:ext cx="29260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E293B"/>
                </a:solidFill>
                <a:latin typeface="Arial"/>
              </a:defRPr>
            </a:pPr>
            <a:r>
              <a:t>Interactive Cyber SOC UI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Command Center: Real-time visual dashboard featuring dark cyber theme and radar scanner.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Circular SVG Gauge: Animated risk gauge for instant clarity on verdict severity.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Interpretable Flags: Highlights exactly which features triggered the alert (unencrypted HTTP, obfuscation, excessive subdomains).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DATA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t>Benchmark Dataset: UCI PhiUSIIL Phishing URLs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PhishGuard AI • Applied Cryptography &amp; Network Security Design Challenge   |   Slide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46888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468880" cy="9144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21031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0284C7"/>
                </a:solidFill>
                <a:latin typeface="Arial"/>
              </a:defRPr>
            </a:pPr>
            <a:r>
              <a:t>235,795</a:t>
            </a:r>
          </a:p>
          <a:p>
            <a:pPr algn="ctr">
              <a:spcAft>
                <a:spcPts val="300"/>
              </a:spcAft>
              <a:defRPr sz="1100" b="1">
                <a:solidFill>
                  <a:srgbClr val="1E293B"/>
                </a:solidFill>
                <a:latin typeface="Arial"/>
              </a:defRPr>
            </a:pPr>
            <a:r>
              <a:t>TOTAL RECORDS</a:t>
            </a:r>
          </a:p>
          <a:p>
            <a:pPr algn="ctr">
              <a:defRPr sz="1000">
                <a:solidFill>
                  <a:srgbClr val="64748B"/>
                </a:solidFill>
                <a:latin typeface="Arial"/>
              </a:defRPr>
            </a:pPr>
            <a:r>
              <a:t>Elsevier Computers &amp; Security 2024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645920"/>
            <a:ext cx="246888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74720" y="1645920"/>
            <a:ext cx="2468880" cy="914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828800"/>
            <a:ext cx="21031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Arial"/>
              </a:defRPr>
            </a:pPr>
            <a:r>
              <a:t>134,850</a:t>
            </a:r>
          </a:p>
          <a:p>
            <a:pPr algn="ctr">
              <a:spcAft>
                <a:spcPts val="300"/>
              </a:spcAft>
              <a:defRPr sz="1100" b="1">
                <a:solidFill>
                  <a:srgbClr val="1E293B"/>
                </a:solidFill>
                <a:latin typeface="Arial"/>
              </a:defRPr>
            </a:pPr>
            <a:r>
              <a:t>LEGITIMATE URLS</a:t>
            </a:r>
          </a:p>
          <a:p>
            <a:pPr algn="ctr">
              <a:defRPr sz="1000">
                <a:solidFill>
                  <a:srgbClr val="64748B"/>
                </a:solidFill>
                <a:latin typeface="Arial"/>
              </a:defRPr>
            </a:pPr>
            <a:r>
              <a:t>57.19% Verified Benign Samples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246888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645920"/>
            <a:ext cx="2468880" cy="914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21031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EF4444"/>
                </a:solidFill>
                <a:latin typeface="Arial"/>
              </a:defRPr>
            </a:pPr>
            <a:r>
              <a:t>100,945</a:t>
            </a:r>
          </a:p>
          <a:p>
            <a:pPr algn="ctr">
              <a:spcAft>
                <a:spcPts val="300"/>
              </a:spcAft>
              <a:defRPr sz="1100" b="1">
                <a:solidFill>
                  <a:srgbClr val="1E293B"/>
                </a:solidFill>
                <a:latin typeface="Arial"/>
              </a:defRPr>
            </a:pPr>
            <a:r>
              <a:t>PHISHING URLS</a:t>
            </a:r>
          </a:p>
          <a:p>
            <a:pPr algn="ctr">
              <a:defRPr sz="1000">
                <a:solidFill>
                  <a:srgbClr val="64748B"/>
                </a:solidFill>
                <a:latin typeface="Arial"/>
              </a:defRPr>
            </a:pPr>
            <a:r>
              <a:t>42.81% Active Phish Attacks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645920"/>
            <a:ext cx="246888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61120" y="1645920"/>
            <a:ext cx="2468880" cy="914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828800"/>
            <a:ext cx="21031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8B5CF6"/>
                </a:solidFill>
                <a:latin typeface="Arial"/>
              </a:defRPr>
            </a:pPr>
            <a:r>
              <a:t>80 / 20</a:t>
            </a:r>
          </a:p>
          <a:p>
            <a:pPr algn="ctr">
              <a:spcAft>
                <a:spcPts val="300"/>
              </a:spcAft>
              <a:defRPr sz="1100" b="1">
                <a:solidFill>
                  <a:srgbClr val="1E293B"/>
                </a:solidFill>
                <a:latin typeface="Arial"/>
              </a:defRPr>
            </a:pPr>
            <a:r>
              <a:t>TRAIN-TEST SPLIT</a:t>
            </a:r>
          </a:p>
          <a:p>
            <a:pPr algn="ctr">
              <a:defRPr sz="1000">
                <a:solidFill>
                  <a:srgbClr val="64748B"/>
                </a:solidFill>
                <a:latin typeface="Arial"/>
              </a:defRPr>
            </a:pPr>
            <a:r>
              <a:t>Stratified Distribution (47k Test)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49039"/>
            <a:ext cx="106984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931920"/>
            <a:ext cx="102412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E293B"/>
                </a:solidFill>
                <a:latin typeface="Arial"/>
              </a:defRPr>
            </a:pPr>
            <a:r>
              <a:t>Data Integrity &amp; Dataset Characteristics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Source: UCI Machine Learning Repository (Donated 2024 by Prasad &amp; Chandra, Elsevier benchmark).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Zero Imputation / Null Values: Verified 0 missing entries and 0 duplicate rows across all 235k samples.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Real-World Balance: Representative class ratio (57% Legitimate vs 43% Phishing) prevents model classification bias.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Stratified Partition: 188,636 Training Samples and 47,159 Holdout Evaluation Samples maintained across all experiments.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FEATURE EXTRACTION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t>17 Lexical Features Engineered for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PhishGuard AI • Applied Cryptography &amp; Network Security Design Challenge   |   Slide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29260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E293B"/>
                </a:solidFill>
                <a:latin typeface="Arial"/>
              </a:defRPr>
            </a:pPr>
            <a:r>
              <a:t>1. Domain &amp; Structure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URLLength: Total character count of normalized URL.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DomainLength: Hostname character length.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IsDomainIP: Binary indicator if host is raw IPv4/IPv6 address (common evasion technique).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NoOfSubDomain: Count of subdomains beyond the base apex domain (e.g. login.bank.service.com).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828800"/>
            <a:ext cx="29260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E293B"/>
                </a:solidFill>
                <a:latin typeface="Arial"/>
              </a:defRPr>
            </a:pPr>
            <a:r>
              <a:t>2. Syntactic Ratios &amp; Tokens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NoOfLettersInURL &amp; LetterRatio: Alphabetic character density.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NoOfDegitsInURL &amp; DegitRatio: Numeric digit density (indicates randomized phishing paths).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Delimiters: Counts of '=', '?', and '&amp;' query parameter characters.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Special Characters: Counts of symbols excluding query delimiters.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828800"/>
            <a:ext cx="29260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E293B"/>
                </a:solidFill>
                <a:latin typeface="Arial"/>
              </a:defRPr>
            </a:pPr>
            <a:r>
              <a:t>3. Obfuscation &amp; Security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HasObfuscation: Flag for suspicious '@', '%', and '//' characters.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NoOfObfuscatedChar: Total count of obfuscated symbols (e.g. hex %20, %28).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ObfuscationRatio: Ratio of obfuscated chars to length.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IsHTTPS: Cryptographic transport security flag (0 = unencrypted HTTP, 1 = TLS HTTPS).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ALGORITHM &amp; MODEL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t>Machine Learning Engine: Random Forest Classifier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PhishGuard AI • Applied Cryptography &amp; Network Security Design Challenge   |   Slide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7548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E293B"/>
                </a:solidFill>
                <a:latin typeface="Arial"/>
              </a:defRPr>
            </a:pPr>
            <a:r>
              <a:t>Why Random Forest for URL Security?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Non-Linear Threshold Handling: Lexical rules naturally follow tree branching logic (e.g. If IsDomainIP=1 AND IsHTTPS=0 -&gt; Flag Phish).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Ensemble Robustness: 100 individual decision trees vote on each vector, preventing single-tree overfitting and variance errors.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Fast Parallel Inference: Decision tree evaluations are simple threshold comparisons; takes &lt; 2ms per inference.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Probabilistic Output: Outputs well-calibrated class probabilities [P(Phish), P(Legit)], driving transparent 0-100% risk scoring.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7548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E293B"/>
                </a:solidFill>
                <a:latin typeface="Arial"/>
              </a:defRPr>
            </a:pPr>
            <a:r>
              <a:t>Training Configuration &amp; Parameters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Estimators: n_estimators = 100 decision trees.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Criterion: Gini Impurity for optimal information gain splits.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Multi-Threading: n_jobs = -1 (utilizes all CPU cores in parallel).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Reproducibility: random_state = 42 across stratified splits.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Execution Speed: Trained across 235k samples in ~6.6 seconds.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Resilient Fallback: Includes pure-Python execution engine if OS App Control blocks C-extension binaries.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ARCHITECTURE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t>End-to-End System Pipeline &amp;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PhishGuard AI • Applied Cryptography &amp; Network Security Design Challenge   |   Slide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46888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2011680" cy="3840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E293B"/>
                </a:solidFill>
                <a:latin typeface="Arial"/>
              </a:defRPr>
            </a:pPr>
            <a:r>
              <a:t>Step 1: Ingestion &amp; Normalization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User submits URL via Dashboard or API client.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Protocol validation (auto-prepends https:// if omitted).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Apex domain normalization (maps apex domains to canonical FQDN standards).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IPv4/IPv6 address detection.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828800"/>
            <a:ext cx="246888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011680"/>
            <a:ext cx="2011680" cy="3840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E293B"/>
                </a:solidFill>
                <a:latin typeface="Arial"/>
              </a:defRPr>
            </a:pPr>
            <a:r>
              <a:t>Step 2: Feature Extractor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Regex &amp; URI parsing via standard library.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Clean string isolation (strips scheme &amp; www prefix).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Computes 17 exact structural, lexical, and obfuscation vectors.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Builds labeled DataFrame vector.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246888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011680"/>
            <a:ext cx="2011680" cy="3840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E293B"/>
                </a:solidFill>
                <a:latin typeface="Arial"/>
              </a:defRPr>
            </a:pPr>
            <a:r>
              <a:t>Step 3: Random Forest Inference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Vector passed to 100 trained decision trees.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Aggregates ensemble votes across trees.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Derives probabilistic risk distribution: P(Phishing) &amp; P(Legitimate).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Generates confidence rating.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828800"/>
            <a:ext cx="246888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20" y="2011680"/>
            <a:ext cx="2011680" cy="3840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E293B"/>
                </a:solidFill>
                <a:latin typeface="Arial"/>
              </a:defRPr>
            </a:pPr>
            <a:r>
              <a:t>Step 4: Threat Intelligence UI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Renders Green Safe Shield vs Crimson Phishing Alert.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Circular SVG Gauge displays calibrated 0-100% risk meter.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Categorizes 17 feature cards with PASS / FLAG chips.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Provides 1-click JSON report download.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ENGINEERING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t>Key Breakthrough: Solving The Feature Schema Mismatch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PhishGuard AI • Applied Cryptography &amp; Network Security Design Challenge   |   Slide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7548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E293B"/>
                </a:solidFill>
                <a:latin typeface="Arial"/>
              </a:defRPr>
            </a:pPr>
            <a:r>
              <a:t>The Bug Discovered (Initial Testing)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Symptom: When testing benign websites like 'google.com', 'wikipedia.org', or 'github.com', the model falsely predicted 92.5% Phishing!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Investigation: Why were benign apex domains receiving false alarms?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Root Cause 1: In the PhiUSIIL dataset, characters were counted on cleaned URL strings (excluding 'https://' and 'www.').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Root Cause 2: Previous extractor counted raw URLs, treating ':' and '//' as special characters. This artificially tripled the special character ratio from 0.03 to 0.22, triggering phishing decision rules.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7548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E293B"/>
                </a:solidFill>
                <a:latin typeface="Arial"/>
              </a:defRPr>
            </a:pPr>
            <a:r>
              <a:t>Our Resolution &amp; Production Fix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Feature Schema Alignment: Rewrote feature extraction in backend/feature_extraction.py to match PhiUSIIL benchmark standards 100%.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Apex Domain Normalization: Added canonical FQDN normalization in backend/app.py so domains like 'google.com' align with dataset conventions.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Full-Scale Retraining: Retrained Random Forest on the entire 235k-row dataset with Scikit-learn.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Impact: Benign domains immediately dropped from 92.5% risk to 0.2% risk, while phishing attacks remain 100.0% detected.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TESTING RESULTS (47,159 TEST SAMPLES)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t>Empirical Evaluation &amp; Performance Benchmarks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PhishGuard AI • Applied Cryptography &amp; Network Security Design Challenge   |   Slide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46888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468880" cy="914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21031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Arial"/>
              </a:defRPr>
            </a:pPr>
            <a:r>
              <a:t>99.73%</a:t>
            </a:r>
          </a:p>
          <a:p>
            <a:pPr algn="ctr">
              <a:spcAft>
                <a:spcPts val="300"/>
              </a:spcAft>
              <a:defRPr sz="1100" b="1">
                <a:solidFill>
                  <a:srgbClr val="1E293B"/>
                </a:solidFill>
                <a:latin typeface="Arial"/>
              </a:defRPr>
            </a:pPr>
            <a:r>
              <a:t>ACCURACY</a:t>
            </a:r>
          </a:p>
          <a:p>
            <a:pPr algn="ctr">
              <a:defRPr sz="1000">
                <a:solidFill>
                  <a:srgbClr val="64748B"/>
                </a:solidFill>
                <a:latin typeface="Arial"/>
              </a:defRPr>
            </a:pPr>
            <a:r>
              <a:t>47,031 / 47,159 Correct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645920"/>
            <a:ext cx="246888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74720" y="1645920"/>
            <a:ext cx="2468880" cy="9144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828800"/>
            <a:ext cx="21031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0284C7"/>
                </a:solidFill>
                <a:latin typeface="Arial"/>
              </a:defRPr>
            </a:pPr>
            <a:r>
              <a:t>99.60%</a:t>
            </a:r>
          </a:p>
          <a:p>
            <a:pPr algn="ctr">
              <a:spcAft>
                <a:spcPts val="300"/>
              </a:spcAft>
              <a:defRPr sz="1100" b="1">
                <a:solidFill>
                  <a:srgbClr val="1E293B"/>
                </a:solidFill>
                <a:latin typeface="Arial"/>
              </a:defRPr>
            </a:pPr>
            <a:r>
              <a:t>PRECISION</a:t>
            </a:r>
          </a:p>
          <a:p>
            <a:pPr algn="ctr">
              <a:defRPr sz="1000">
                <a:solidFill>
                  <a:srgbClr val="64748B"/>
                </a:solidFill>
                <a:latin typeface="Arial"/>
              </a:defRPr>
            </a:pPr>
            <a:r>
              <a:t>True Positive Exactness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246888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645920"/>
            <a:ext cx="2468880" cy="914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21031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8B5CF6"/>
                </a:solidFill>
                <a:latin typeface="Arial"/>
              </a:defRPr>
            </a:pPr>
            <a:r>
              <a:t>99.92%</a:t>
            </a:r>
          </a:p>
          <a:p>
            <a:pPr algn="ctr">
              <a:spcAft>
                <a:spcPts val="300"/>
              </a:spcAft>
              <a:defRPr sz="1100" b="1">
                <a:solidFill>
                  <a:srgbClr val="1E293B"/>
                </a:solidFill>
                <a:latin typeface="Arial"/>
              </a:defRPr>
            </a:pPr>
            <a:r>
              <a:t>RECALL</a:t>
            </a:r>
          </a:p>
          <a:p>
            <a:pPr algn="ctr">
              <a:defRPr sz="1000">
                <a:solidFill>
                  <a:srgbClr val="64748B"/>
                </a:solidFill>
                <a:latin typeface="Arial"/>
              </a:defRPr>
            </a:pPr>
            <a:r>
              <a:t>High Detection Sensitivity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645920"/>
            <a:ext cx="246888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61120" y="1645920"/>
            <a:ext cx="2468880" cy="914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828800"/>
            <a:ext cx="21031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0EA5E9"/>
                </a:solidFill>
                <a:latin typeface="Arial"/>
              </a:defRPr>
            </a:pPr>
            <a:r>
              <a:t>99.76%</a:t>
            </a:r>
          </a:p>
          <a:p>
            <a:pPr algn="ctr">
              <a:spcAft>
                <a:spcPts val="300"/>
              </a:spcAft>
              <a:defRPr sz="1100" b="1">
                <a:solidFill>
                  <a:srgbClr val="1E293B"/>
                </a:solidFill>
                <a:latin typeface="Arial"/>
              </a:defRPr>
            </a:pPr>
            <a:r>
              <a:t>F1-SCORE</a:t>
            </a:r>
          </a:p>
          <a:p>
            <a:pPr algn="ctr">
              <a:defRPr sz="1000">
                <a:solidFill>
                  <a:srgbClr val="64748B"/>
                </a:solidFill>
                <a:latin typeface="Arial"/>
              </a:defRPr>
            </a:pPr>
            <a:r>
              <a:t>Harmonic Balance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49039"/>
            <a:ext cx="106984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931920"/>
            <a:ext cx="102412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E293B"/>
                </a:solidFill>
                <a:latin typeface="Arial"/>
              </a:defRPr>
            </a:pPr>
            <a:r>
              <a:t>Confusion Matrix Analysis (Holdout Test Set)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True Negatives (TN): 20,082 Phishing URLs correctly identified and blocked.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False Positives (FP): Only 107 benign URLs flagged (0.22% False Alarm Rate).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False Negatives (FN): Only 21 Phishing URLs missed (0.07% Miss Rate).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True Positives (TP): 26,949 Legitimate URLs correctly verified and passed.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Engine Status: scikit-learn RandomForestClassifier with 100 estimators executed on production server.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IMPLEMENTATION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t>Technology Stack &amp; Modular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PhishGuard AI • Applied Cryptography &amp; Network Security Design Challenge   |   Slide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29260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E293B"/>
                </a:solidFill>
                <a:latin typeface="Arial"/>
              </a:defRPr>
            </a:pPr>
            <a:r>
              <a:t>Backend &amp; ML Engine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Python 3.12 / 3.14: Core runtime.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Flask REST API: Microservice endpoints (/predict, /api/metrics, /health).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Scikit-Learn: Parallel Random Forest implementation with Joblib/Pickle.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Pandas &amp; NumPy: Vector manipulation and dataset processing.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Pure-Python Fallback: Standalone decision tree engine for zero-dependency portability.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828800"/>
            <a:ext cx="29260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E293B"/>
                </a:solidFill>
                <a:latin typeface="Arial"/>
              </a:defRPr>
            </a:pPr>
            <a:r>
              <a:t>Frontend Command Center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Vanilla HTML5 &amp; CSS3: Zero external framework overhead; ultra-fast load time.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Cyberpunk &amp; Obsidian Dark Theme: High-tech Security Operations Center (SOC) aesthetic.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Modern Typography: Plus Jakarta Sans for UI and JetBrains Mono for telemetry.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Asynchronous Fetch API: Real-time API communication without page reloads.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828800"/>
            <a:ext cx="29260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E293B"/>
                </a:solidFill>
                <a:latin typeface="Arial"/>
              </a:defRPr>
            </a:pPr>
            <a:r>
              <a:t>Automation &amp; DevOps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Single-Command Launch: python run.py &amp; start.bat auto-opens browser to http://127.0.0.1:5000.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Automated Test Suite: test_system.py verifies health, metrics, and multi-URL predictions.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Git Version Control: Clean branches and tags (shantanu-changes branch, ui-and-accuracy tag).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UI/UX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t>Frontend Command Center 2.0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PhishGuard AI • Applied Cryptography &amp; Network Security Design Challenge   |   Slide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7548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E293B"/>
                </a:solidFill>
                <a:latin typeface="Arial"/>
              </a:defRPr>
            </a:pPr>
            <a:r>
              <a:t>Instant Demo Presets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One-click demo chips for easy viva presentations: Google Search, University Domain, GitHub Org, Active PayPal Phish, Raw IP Host, Spoof Domain.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7548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E293B"/>
                </a:solidFill>
                <a:latin typeface="Arial"/>
              </a:defRPr>
            </a:pPr>
            <a:r>
              <a:t>Heuristic Radar Scanner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Simulates real-time SOC radar scan with step-by-step heuristic log ticker (normalizing syntax, extracting 17 vectors, querying 100 trees).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2120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1480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E293B"/>
                </a:solidFill>
                <a:latin typeface="Arial"/>
              </a:defRPr>
            </a:pPr>
            <a:r>
              <a:t>Animated SVG Circular Gauge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Smooth animated dial displaying calibrated 0% to 100% Phishing Risk Probability, changing dynamic colors (Emerald Green to Laser Crimson).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2120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11480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E293B"/>
                </a:solidFill>
                <a:latin typeface="Arial"/>
              </a:defRPr>
            </a:pPr>
            <a:r>
              <a:t>Interpretable 17 Feature Inspector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Grouped into 3 intuitive cards (Domain Structure, Lexical Ratios, Obfuscation/TLS) with visual PASS / FLAG chips and 1-click JSON report download.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LIVE TEST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t>Empirical Case Studies &amp; Test Verifications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PhishGuard AI • Applied Cryptography &amp; Network Security Design Challenge   |   Slide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728655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645920"/>
                <a:gridCol w="1645920"/>
                <a:gridCol w="1463040"/>
                <a:gridCol w="1858975"/>
              </a:tblGrid>
              <a:tr h="7162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Target URL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Expected Class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Model Verdict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 Score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Primary Reason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https://www.google.com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Legitimate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Legitimate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Standard length, TLS valid, benign ratio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https://www.uni-mainz.de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Legitimate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Legitimate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Academic domain, 0 obfuscation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https://github.com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Legitimate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Legitimate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Trusted FQDN structure, secure HTTPS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http://secure-login.paypal.account-verify.com/...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Phishing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Phishing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Excessive subdomains, brand spoofing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http://192.168.1.1/admin-login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Phishing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Phishing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Raw IP address host, unencrypted HTTP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PROJECT MILESTONE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t>Phase 1 Accomplishments &amp; Current Working 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PhishGuard AI • Applied Cryptography &amp; Network Security Design Challenge   |   Slide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7548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E293B"/>
                </a:solidFill>
                <a:latin typeface="Arial"/>
              </a:defRPr>
            </a:pPr>
            <a:r>
              <a:t>Multi-Vector Defense Capabilities (100% Operational)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Production ML Model: 100-tree Random Forest retrained on 235k rows with 99.73% accuracy.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Email &amp; SMS NLP Analyzer: Detects social engineering urgency, fear, coercion &amp; scans embedded links.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Live SSL / DNS Inspector: Cryptographic X.509 cert validation, TLS 1.3 verification, &amp; CNS Grade A+ to F.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Quishing (QR) Detector: OpenCV computer vision decodes QR codes and pipes payloads to RF model.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Cyber Command Center UI: Responsive 4-tab security suite with SVG risk dial and radar scanner.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Integrated Test Suite: backend/test_system.py passes 100% automated assertion tests.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7548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E293B"/>
                </a:solidFill>
                <a:latin typeface="Arial"/>
              </a:defRPr>
            </a:pPr>
            <a:r>
              <a:t>Codebase &amp; Deployment Hygiene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Clean Modular Architecture: email_analyzer.py, ssl_dns_inspector.py, qr_scanner.py, app.py.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Single-Click Launch: run.py script handles model checks and opens browser automatically.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Zero External Paid APIs: Entire system runs locally using scikit-learn, OpenCV, Pillow, and Python sockets.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Git Version Control: Clean branches and tags (shantanu-changes branch, ui-and-accuracy tag).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Documentation: Complete README.md and Walkthrough logs ready for project submission.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VISUAL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t>System Visual Gallery: Dashboard in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PhishGuard AI • Applied Cryptography &amp; Network Security Design Challenge   |   Slide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284C7"/>
                </a:solidFill>
                <a:latin typeface="Arial"/>
              </a:defRPr>
            </a:pPr>
            <a:r>
              <a:t>[ Screenshot 1: Legitimate URL Scan Result (Green Shield &amp; Gauge) ]</a:t>
            </a:r>
          </a:p>
          <a:p>
            <a:pPr algn="ctr">
              <a:defRPr sz="1000">
                <a:solidFill>
                  <a:srgbClr val="64748B"/>
                </a:solidFill>
                <a:latin typeface="Arial"/>
              </a:defRPr>
            </a:pPr>
            <a:r>
              <a:t>Drop / Paste Screenshot Here in Canva / PPT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38328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284C7"/>
                </a:solidFill>
                <a:latin typeface="Arial"/>
              </a:defRPr>
            </a:pPr>
            <a:r>
              <a:t>[ Screenshot 2: Phishing Alert Triggered (Red Warning &amp; Feature Breakdown) ]</a:t>
            </a:r>
          </a:p>
          <a:p>
            <a:pPr algn="ctr">
              <a:defRPr sz="1000">
                <a:solidFill>
                  <a:srgbClr val="64748B"/>
                </a:solidFill>
                <a:latin typeface="Arial"/>
              </a:defRPr>
            </a:pPr>
            <a:r>
              <a:t>Drop / Paste Screenshot Here in Canva / PPT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NEXT STEPS &amp;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t>Future Roadmap &amp; Project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PhishGuard AI • Applied Cryptography &amp; Network Security Design Challenge   |   Slide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7548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E293B"/>
                </a:solidFill>
                <a:latin typeface="Arial"/>
              </a:defRPr>
            </a:pPr>
            <a:r>
              <a:t>Phase 2 &amp; Future Roadmap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Browser Extension: Package the feature extractor as a Chrome/Firefox extension for real-time link hover protection.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DNS Sinkholing: Integrate with local DNS resolver (e.g. Pi-hole / CoreDNS) to block malicious requests network-wide.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Hybrid Inspection: Combine lexical feature inference with lightweight page title / SSL certificate validation for defense-in-depth.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Active Learning Pipeline: Automatically ingest zero-day phishing telemetry reported by users to continuously update model weights.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7548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E293B"/>
                </a:solidFill>
                <a:latin typeface="Arial"/>
              </a:defRPr>
            </a:pPr>
            <a:r>
              <a:t>Project Summary &amp; Conclusion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Effective Proactive Defense: Successfully proved that lexical URL features can predict zero-day phishing with 99.73% accuracy before page load.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High Practical Viability: Zero dependence on slow external blacklists or heavy web crawlers.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Engineering Rigor: Solved the critical feature extraction discrepancy and deployed an enterprise-grade Cyber Command Center.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t>•  Ready for Production &amp; Viva: Fully functional, thoroughly tested, and documented codebase.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