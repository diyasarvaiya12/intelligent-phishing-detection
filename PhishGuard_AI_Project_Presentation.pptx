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64592" cy="411480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9601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0284C7"/>
                </a:solidFill>
                <a:latin typeface="Arial"/>
              </a:defRPr>
            </a:pPr>
            <a:r>
              <a:t>APPLIED CRYPTOGRAPHY &amp; NETWORK SECURITY (CNS) DESIGN CHALLENGE</a:t>
            </a:r>
          </a:p>
          <a:p>
            <a:pPr>
              <a:spcAft>
                <a:spcPts val="1400"/>
              </a:spcAft>
              <a:defRPr sz="3600" b="1">
                <a:solidFill>
                  <a:srgbClr val="1E293B"/>
                </a:solidFill>
                <a:latin typeface="Arial"/>
              </a:defRPr>
            </a:pPr>
            <a:r>
              <a:t>PhishGuard AI: Intelligent Phishing Detection &amp; Threat Intelligence</a:t>
            </a:r>
          </a:p>
          <a:p>
            <a:pPr>
              <a:spcAft>
                <a:spcPts val="2800"/>
              </a:spcAft>
              <a:defRPr sz="1500">
                <a:solidFill>
                  <a:srgbClr val="64748B"/>
                </a:solidFill>
                <a:latin typeface="Arial"/>
              </a:defRPr>
            </a:pPr>
            <a:r>
              <a:t>A Machine Learning approach using real-time Lexical Feature Analysis and an Ensemble Random Forest Classifier trained on 235,000+ benchmark domains.</a:t>
            </a:r>
          </a:p>
          <a:p>
            <a:pPr>
              <a:defRPr sz="1200" b="1">
                <a:solidFill>
                  <a:srgbClr val="1E293B"/>
                </a:solidFill>
                <a:latin typeface="Arial"/>
              </a:defRPr>
            </a:pPr>
            <a:r>
              <a:t>Team Presentation  •  Academic &amp; Viva Demonstration  •  Phase 1 Implementation Review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  <a:latin typeface="Arial"/>
              </a:defRPr>
            </a:pPr>
            <a:r>
              <a:t>CONTEXT &amp; MOTIVATION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1E293B"/>
                </a:solidFill>
                <a:latin typeface="Arial"/>
              </a:defRPr>
            </a:pPr>
            <a:r>
              <a:t>Problem Statement: The Growing Phishing Threat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50">
                <a:solidFill>
                  <a:srgbClr val="64748B"/>
                </a:solidFill>
                <a:latin typeface="Arial"/>
              </a:defRPr>
            </a:pPr>
            <a:r>
              <a:t>PhishGuard AI • Applied Cryptography &amp; Network Security Design Challenge   |   Slide 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5212080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4754880" cy="402335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1E293B"/>
                </a:solidFill>
                <a:latin typeface="Arial"/>
              </a:defRPr>
            </a:pPr>
            <a:r>
              <a:t>The Challenge of Modern Phishing</a:t>
            </a:r>
          </a:p>
          <a:p>
            <a:pPr>
              <a:spcAft>
                <a:spcPts val="6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t>•  Credential Harvesting: Phishing accounts for over 80% of reported security incidents globally.</a:t>
            </a:r>
          </a:p>
          <a:p>
            <a:pPr>
              <a:spcAft>
                <a:spcPts val="6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t>•  Dynamic Obfuscation: Adversaries constantly spin up new disposable domains, subdomains, and encoded paths.</a:t>
            </a:r>
          </a:p>
          <a:p>
            <a:pPr>
              <a:spcAft>
                <a:spcPts val="6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t>•  Zero-Day Threat Window: Attackers register malicious domains and deploy phishing pages within minutes, striking before detection occurs.</a:t>
            </a:r>
          </a:p>
          <a:p>
            <a:pPr>
              <a:spcAft>
                <a:spcPts val="6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t>•  User Deception: Deceptive URLs visually mimic trusted brands (e.g. login.paypal.account-verify.com), deceiving even trained users.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645920"/>
            <a:ext cx="5212080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828800"/>
            <a:ext cx="4754880" cy="402335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1E293B"/>
                </a:solidFill>
                <a:latin typeface="Arial"/>
              </a:defRPr>
            </a:pPr>
            <a:r>
              <a:t>Why Traditional Defenses Fail</a:t>
            </a:r>
          </a:p>
          <a:p>
            <a:pPr>
              <a:spcAft>
                <a:spcPts val="6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t>•  Static Blacklists (DNS / DNSBL): Rely on pre-reported lists (e.g., PhishTank, Spamhaus). New URLs bypass them effortlessly.</a:t>
            </a:r>
          </a:p>
          <a:p>
            <a:pPr>
              <a:spcAft>
                <a:spcPts val="6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t>•  Detection Latency: Blacklist addition takes hours to several days, leaving critical vulnerable windows open.</a:t>
            </a:r>
          </a:p>
          <a:p>
            <a:pPr>
              <a:spcAft>
                <a:spcPts val="6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t>•  Heavy Overhead: Full-page scrapers &amp; DOM inspectors require rendering web assets, downloading scripts, and parsing HTML (high latency &amp; security risks).</a:t>
            </a:r>
          </a:p>
          <a:p>
            <a:pPr>
              <a:spcAft>
                <a:spcPts val="6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t>•  Our Opportunity: Proactively inspect URLs purely by lexical &amp; syntactic features in milliseconds before network requests happen.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  <a:latin typeface="Arial"/>
              </a:defRPr>
            </a:pPr>
            <a:r>
              <a:t>SYSTEM OBJECTIVES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1E293B"/>
                </a:solidFill>
                <a:latin typeface="Arial"/>
              </a:defRPr>
            </a:pPr>
            <a:r>
              <a:t>Proposed Solution: Proactive Lexical Threat Defense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50">
                <a:solidFill>
                  <a:srgbClr val="64748B"/>
                </a:solidFill>
                <a:latin typeface="Arial"/>
              </a:defRPr>
            </a:pPr>
            <a:r>
              <a:t>PhishGuard AI • Applied Cryptography &amp; Network Security Design Challenge   |   Slide 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3383280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2926080" cy="402335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1E293B"/>
                </a:solidFill>
                <a:latin typeface="Arial"/>
              </a:defRPr>
            </a:pPr>
            <a:r>
              <a:t>Real-Time Heuristic Engine</a:t>
            </a:r>
          </a:p>
          <a:p>
            <a:pPr>
              <a:spcAft>
                <a:spcPts val="6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t>•  Zero-Payload Analysis: Evaluates URL strings directly without fetching remote servers or running malicious code.</a:t>
            </a:r>
          </a:p>
          <a:p>
            <a:pPr>
              <a:spcAft>
                <a:spcPts val="6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t>•  Sub-Second Response: Extracts 17 lexical attributes and classifies threats in &lt; 15ms.</a:t>
            </a:r>
          </a:p>
          <a:p>
            <a:pPr>
              <a:spcAft>
                <a:spcPts val="6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t>•  Zero-Day Detection: Recognizes syntactic manipulation patterns even on newly minted domains never seen before.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645920"/>
            <a:ext cx="3383280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17720" y="1828800"/>
            <a:ext cx="2926080" cy="402335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1E293B"/>
                </a:solidFill>
                <a:latin typeface="Arial"/>
              </a:defRPr>
            </a:pPr>
            <a:r>
              <a:t>Ensemble Machine Learning</a:t>
            </a:r>
          </a:p>
          <a:p>
            <a:pPr>
              <a:spcAft>
                <a:spcPts val="6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t>•  Benchmark Model: Random Forest Classifier with 100 decision trees trained on verified datasets.</a:t>
            </a:r>
          </a:p>
          <a:p>
            <a:pPr>
              <a:spcAft>
                <a:spcPts val="6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t>•  Probabilistic Scoring: Computes transparent 0% to 100% Phishing Risk Score alongside binary verdict.</a:t>
            </a:r>
          </a:p>
          <a:p>
            <a:pPr>
              <a:spcAft>
                <a:spcPts val="6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t>•  Robust Stratification: Validated on 47,159 test samples to ensure high generalization and 0 overfitting.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645920"/>
            <a:ext cx="3383280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5320" y="1828800"/>
            <a:ext cx="2926080" cy="402335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1E293B"/>
                </a:solidFill>
                <a:latin typeface="Arial"/>
              </a:defRPr>
            </a:pPr>
            <a:r>
              <a:t>Interactive Cyber SOC UI</a:t>
            </a:r>
          </a:p>
          <a:p>
            <a:pPr>
              <a:spcAft>
                <a:spcPts val="6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t>•  Command Center: Real-time visual dashboard featuring dark cyber theme and radar scanner.</a:t>
            </a:r>
          </a:p>
          <a:p>
            <a:pPr>
              <a:spcAft>
                <a:spcPts val="6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t>•  Circular SVG Gauge: Animated risk gauge for instant clarity on verdict severity.</a:t>
            </a:r>
          </a:p>
          <a:p>
            <a:pPr>
              <a:spcAft>
                <a:spcPts val="6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t>•  Interpretable Flags: Highlights exactly which features triggered the alert (unencrypted HTTP, obfuscation, excessive subdomains).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  <a:latin typeface="Arial"/>
              </a:defRPr>
            </a:pPr>
            <a:r>
              <a:t>DATA FOUNDATION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1E293B"/>
                </a:solidFill>
                <a:latin typeface="Arial"/>
              </a:defRPr>
            </a:pPr>
            <a:r>
              <a:t>Benchmark Dataset: UCI PhiUSIIL Phishing URLs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50">
                <a:solidFill>
                  <a:srgbClr val="64748B"/>
                </a:solidFill>
                <a:latin typeface="Arial"/>
              </a:defRPr>
            </a:pPr>
            <a:r>
              <a:t>PhishGuard AI • Applied Cryptography &amp; Network Security Design Challenge   |   Slide 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2468880" cy="18288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1645920"/>
            <a:ext cx="2468880" cy="91440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828800"/>
            <a:ext cx="2103120" cy="1554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800" b="1">
                <a:solidFill>
                  <a:srgbClr val="0284C7"/>
                </a:solidFill>
                <a:latin typeface="Arial"/>
              </a:defRPr>
            </a:pPr>
            <a:r>
              <a:t>235,795</a:t>
            </a:r>
          </a:p>
          <a:p>
            <a:pPr algn="ctr">
              <a:spcAft>
                <a:spcPts val="300"/>
              </a:spcAft>
              <a:defRPr sz="1100" b="1">
                <a:solidFill>
                  <a:srgbClr val="1E293B"/>
                </a:solidFill>
                <a:latin typeface="Arial"/>
              </a:defRPr>
            </a:pPr>
            <a:r>
              <a:t>TOTAL RECORDS</a:t>
            </a:r>
          </a:p>
          <a:p>
            <a:pPr algn="ctr">
              <a:defRPr sz="1000">
                <a:solidFill>
                  <a:srgbClr val="64748B"/>
                </a:solidFill>
                <a:latin typeface="Arial"/>
              </a:defRPr>
            </a:pPr>
            <a:r>
              <a:t>Elsevier Computers &amp; Security 2024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74720" y="1645920"/>
            <a:ext cx="2468880" cy="18288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474720" y="1645920"/>
            <a:ext cx="2468880" cy="9144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0" y="1828800"/>
            <a:ext cx="2103120" cy="1554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800" b="1">
                <a:solidFill>
                  <a:srgbClr val="10B981"/>
                </a:solidFill>
                <a:latin typeface="Arial"/>
              </a:defRPr>
            </a:pPr>
            <a:r>
              <a:t>134,850</a:t>
            </a:r>
          </a:p>
          <a:p>
            <a:pPr algn="ctr">
              <a:spcAft>
                <a:spcPts val="300"/>
              </a:spcAft>
              <a:defRPr sz="1100" b="1">
                <a:solidFill>
                  <a:srgbClr val="1E293B"/>
                </a:solidFill>
                <a:latin typeface="Arial"/>
              </a:defRPr>
            </a:pPr>
            <a:r>
              <a:t>LEGITIMATE URLS</a:t>
            </a:r>
          </a:p>
          <a:p>
            <a:pPr algn="ctr">
              <a:defRPr sz="1000">
                <a:solidFill>
                  <a:srgbClr val="64748B"/>
                </a:solidFill>
                <a:latin typeface="Arial"/>
              </a:defRPr>
            </a:pPr>
            <a:r>
              <a:t>57.19% Verified Benign Samples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645920"/>
            <a:ext cx="2468880" cy="18288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217920" y="1645920"/>
            <a:ext cx="2468880" cy="91440"/>
          </a:xfrm>
          <a:prstGeom prst="round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1828800"/>
            <a:ext cx="2103120" cy="1554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800" b="1">
                <a:solidFill>
                  <a:srgbClr val="EF4444"/>
                </a:solidFill>
                <a:latin typeface="Arial"/>
              </a:defRPr>
            </a:pPr>
            <a:r>
              <a:t>100,945</a:t>
            </a:r>
          </a:p>
          <a:p>
            <a:pPr algn="ctr">
              <a:spcAft>
                <a:spcPts val="300"/>
              </a:spcAft>
              <a:defRPr sz="1100" b="1">
                <a:solidFill>
                  <a:srgbClr val="1E293B"/>
                </a:solidFill>
                <a:latin typeface="Arial"/>
              </a:defRPr>
            </a:pPr>
            <a:r>
              <a:t>PHISHING URLS</a:t>
            </a:r>
          </a:p>
          <a:p>
            <a:pPr algn="ctr">
              <a:defRPr sz="1000">
                <a:solidFill>
                  <a:srgbClr val="64748B"/>
                </a:solidFill>
                <a:latin typeface="Arial"/>
              </a:defRPr>
            </a:pPr>
            <a:r>
              <a:t>42.81% Active Phish Attacks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61120" y="1645920"/>
            <a:ext cx="2468880" cy="18288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961120" y="1645920"/>
            <a:ext cx="2468880" cy="91440"/>
          </a:xfrm>
          <a:prstGeom prst="round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0" y="1828800"/>
            <a:ext cx="2103120" cy="1554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800" b="1">
                <a:solidFill>
                  <a:srgbClr val="8B5CF6"/>
                </a:solidFill>
                <a:latin typeface="Arial"/>
              </a:defRPr>
            </a:pPr>
            <a:r>
              <a:t>80 / 20</a:t>
            </a:r>
          </a:p>
          <a:p>
            <a:pPr algn="ctr">
              <a:spcAft>
                <a:spcPts val="300"/>
              </a:spcAft>
              <a:defRPr sz="1100" b="1">
                <a:solidFill>
                  <a:srgbClr val="1E293B"/>
                </a:solidFill>
                <a:latin typeface="Arial"/>
              </a:defRPr>
            </a:pPr>
            <a:r>
              <a:t>TRAIN-TEST SPLIT</a:t>
            </a:r>
          </a:p>
          <a:p>
            <a:pPr algn="ctr">
              <a:defRPr sz="1000">
                <a:solidFill>
                  <a:srgbClr val="64748B"/>
                </a:solidFill>
                <a:latin typeface="Arial"/>
              </a:defRPr>
            </a:pPr>
            <a:r>
              <a:t>Stratified Distribution (47k Test)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3749039"/>
            <a:ext cx="10698480" cy="23774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3931920"/>
            <a:ext cx="10241280" cy="2011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1E293B"/>
                </a:solidFill>
                <a:latin typeface="Arial"/>
              </a:defRPr>
            </a:pPr>
            <a:r>
              <a:t>Data Integrity &amp; Dataset Characteristics</a:t>
            </a:r>
          </a:p>
          <a:p>
            <a:pPr>
              <a:spcAft>
                <a:spcPts val="6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t>•  Source: UCI Machine Learning Repository (Donated 2024 by Prasad &amp; Chandra, Elsevier benchmark).</a:t>
            </a:r>
          </a:p>
          <a:p>
            <a:pPr>
              <a:spcAft>
                <a:spcPts val="6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t>•  Zero Imputation / Null Values: Verified 0 missing entries and 0 duplicate rows across all 235k samples.</a:t>
            </a:r>
          </a:p>
          <a:p>
            <a:pPr>
              <a:spcAft>
                <a:spcPts val="6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t>•  Real-World Balance: Representative class ratio (57% Legitimate vs 43% Phishing) prevents model classification bias.</a:t>
            </a:r>
          </a:p>
          <a:p>
            <a:pPr>
              <a:spcAft>
                <a:spcPts val="6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t>•  Stratified Partition: 188,636 Training Samples and 47,159 Holdout Evaluation Samples maintained across all experiments.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  <a:latin typeface="Arial"/>
              </a:defRPr>
            </a:pPr>
            <a:r>
              <a:t>FEATURE EXTRACTION SCHEMA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1E293B"/>
                </a:solidFill>
                <a:latin typeface="Arial"/>
              </a:defRPr>
            </a:pPr>
            <a:r>
              <a:t>17 Lexical Features Engineered for Detection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50">
                <a:solidFill>
                  <a:srgbClr val="64748B"/>
                </a:solidFill>
                <a:latin typeface="Arial"/>
              </a:defRPr>
            </a:pPr>
            <a:r>
              <a:t>PhishGuard AI • Applied Cryptography &amp; Network Security Design Challenge   |   Slide 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3383280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2926080" cy="402335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1E293B"/>
                </a:solidFill>
                <a:latin typeface="Arial"/>
              </a:defRPr>
            </a:pPr>
            <a:r>
              <a:t>1. Domain &amp; Structure</a:t>
            </a:r>
          </a:p>
          <a:p>
            <a:pPr>
              <a:spcAft>
                <a:spcPts val="6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t>•  URLLength: Total character count of normalized URL.</a:t>
            </a:r>
          </a:p>
          <a:p>
            <a:pPr>
              <a:spcAft>
                <a:spcPts val="6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t>•  DomainLength: Hostname character length.</a:t>
            </a:r>
          </a:p>
          <a:p>
            <a:pPr>
              <a:spcAft>
                <a:spcPts val="6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t>•  IsDomainIP: Binary indicator if host is raw IPv4/IPv6 address (common evasion technique).</a:t>
            </a:r>
          </a:p>
          <a:p>
            <a:pPr>
              <a:spcAft>
                <a:spcPts val="6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t>•  NoOfSubDomain: Count of subdomains beyond the base apex domain (e.g. login.bank.service.com).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645920"/>
            <a:ext cx="3383280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17720" y="1828800"/>
            <a:ext cx="2926080" cy="402335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1E293B"/>
                </a:solidFill>
                <a:latin typeface="Arial"/>
              </a:defRPr>
            </a:pPr>
            <a:r>
              <a:t>2. Syntactic Ratios &amp; Tokens</a:t>
            </a:r>
          </a:p>
          <a:p>
            <a:pPr>
              <a:spcAft>
                <a:spcPts val="6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t>•  NoOfLettersInURL &amp; LetterRatio: Alphabetic character density.</a:t>
            </a:r>
          </a:p>
          <a:p>
            <a:pPr>
              <a:spcAft>
                <a:spcPts val="6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t>•  NoOfDegitsInURL &amp; DegitRatio: Numeric digit density (indicates randomized phishing paths).</a:t>
            </a:r>
          </a:p>
          <a:p>
            <a:pPr>
              <a:spcAft>
                <a:spcPts val="6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t>•  Delimiters: Counts of '=', '?', and '&amp;' query parameter characters.</a:t>
            </a:r>
          </a:p>
          <a:p>
            <a:pPr>
              <a:spcAft>
                <a:spcPts val="6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t>•  Special Characters: Counts of symbols excluding query delimiters.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645920"/>
            <a:ext cx="3383280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5320" y="1828800"/>
            <a:ext cx="2926080" cy="402335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1E293B"/>
                </a:solidFill>
                <a:latin typeface="Arial"/>
              </a:defRPr>
            </a:pPr>
            <a:r>
              <a:t>3. Obfuscation &amp; Security</a:t>
            </a:r>
          </a:p>
          <a:p>
            <a:pPr>
              <a:spcAft>
                <a:spcPts val="6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t>•  HasObfuscation: Flag for suspicious '@', '%', and '//' characters.</a:t>
            </a:r>
          </a:p>
          <a:p>
            <a:pPr>
              <a:spcAft>
                <a:spcPts val="6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t>•  NoOfObfuscatedChar: Total count of obfuscated symbols (e.g. hex %20, %28).</a:t>
            </a:r>
          </a:p>
          <a:p>
            <a:pPr>
              <a:spcAft>
                <a:spcPts val="6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t>•  ObfuscationRatio: Ratio of obfuscated chars to length.</a:t>
            </a:r>
          </a:p>
          <a:p>
            <a:pPr>
              <a:spcAft>
                <a:spcPts val="6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t>•  IsHTTPS: Cryptographic transport security flag (0 = unencrypted HTTP, 1 = TLS HTTPS).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  <a:latin typeface="Arial"/>
              </a:defRPr>
            </a:pPr>
            <a:r>
              <a:t>ALGORITHM &amp; MODEL SELECTION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1E293B"/>
                </a:solidFill>
                <a:latin typeface="Arial"/>
              </a:defRPr>
            </a:pPr>
            <a:r>
              <a:t>Machine Learning Engine: Random Forest Classifier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50">
                <a:solidFill>
                  <a:srgbClr val="64748B"/>
                </a:solidFill>
                <a:latin typeface="Arial"/>
              </a:defRPr>
            </a:pPr>
            <a:r>
              <a:t>PhishGuard AI • Applied Cryptography &amp; Network Security Design Challenge   |   Slide 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5212080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4754880" cy="402335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1E293B"/>
                </a:solidFill>
                <a:latin typeface="Arial"/>
              </a:defRPr>
            </a:pPr>
            <a:r>
              <a:t>Why Random Forest for URL Security?</a:t>
            </a:r>
          </a:p>
          <a:p>
            <a:pPr>
              <a:spcAft>
                <a:spcPts val="6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t>•  Non-Linear Threshold Handling: Lexical rules naturally follow tree branching logic (e.g. If IsDomainIP=1 AND IsHTTPS=0 -&gt; Flag Phish).</a:t>
            </a:r>
          </a:p>
          <a:p>
            <a:pPr>
              <a:spcAft>
                <a:spcPts val="6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t>•  Ensemble Robustness: 100 individual decision trees vote on each vector, preventing single-tree overfitting and variance errors.</a:t>
            </a:r>
          </a:p>
          <a:p>
            <a:pPr>
              <a:spcAft>
                <a:spcPts val="6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t>•  Fast Parallel Inference: Decision tree evaluations are simple threshold comparisons; takes &lt; 2ms per inference.</a:t>
            </a:r>
          </a:p>
          <a:p>
            <a:pPr>
              <a:spcAft>
                <a:spcPts val="6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t>•  Probabilistic Output: Outputs well-calibrated class probabilities [P(Phish), P(Legit)], driving transparent 0-100% risk scoring.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645920"/>
            <a:ext cx="5212080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828800"/>
            <a:ext cx="4754880" cy="402335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1E293B"/>
                </a:solidFill>
                <a:latin typeface="Arial"/>
              </a:defRPr>
            </a:pPr>
            <a:r>
              <a:t>Training Configuration &amp; Parameters</a:t>
            </a:r>
          </a:p>
          <a:p>
            <a:pPr>
              <a:spcAft>
                <a:spcPts val="6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t>•  Estimators: n_estimators = 100 decision trees.</a:t>
            </a:r>
          </a:p>
          <a:p>
            <a:pPr>
              <a:spcAft>
                <a:spcPts val="6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t>•  Criterion: Gini Impurity for optimal information gain splits.</a:t>
            </a:r>
          </a:p>
          <a:p>
            <a:pPr>
              <a:spcAft>
                <a:spcPts val="6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t>•  Multi-Threading: n_jobs = -1 (utilizes all CPU cores in parallel).</a:t>
            </a:r>
          </a:p>
          <a:p>
            <a:pPr>
              <a:spcAft>
                <a:spcPts val="6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t>•  Reproducibility: random_state = 42 across stratified splits.</a:t>
            </a:r>
          </a:p>
          <a:p>
            <a:pPr>
              <a:spcAft>
                <a:spcPts val="6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t>•  Execution Speed: Trained across 235k samples in ~6.6 seconds.</a:t>
            </a:r>
          </a:p>
          <a:p>
            <a:pPr>
              <a:spcAft>
                <a:spcPts val="6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t>•  Resilient Fallback: Includes pure-Python execution engine if OS App Control blocks C-extension binaries.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  <a:latin typeface="Arial"/>
              </a:defRPr>
            </a:pPr>
            <a:r>
              <a:t>ARCHITECTURE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1E293B"/>
                </a:solidFill>
                <a:latin typeface="Arial"/>
              </a:defRPr>
            </a:pPr>
            <a:r>
              <a:t>End-to-End System Pipeline &amp; Architecture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50">
                <a:solidFill>
                  <a:srgbClr val="64748B"/>
                </a:solidFill>
                <a:latin typeface="Arial"/>
              </a:defRPr>
            </a:pPr>
            <a:r>
              <a:t>PhishGuard AI • Applied Cryptography &amp; Network Security Design Challenge   |   Slide 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828800"/>
            <a:ext cx="2468880" cy="42062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011680"/>
            <a:ext cx="2011680" cy="384047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1E293B"/>
                </a:solidFill>
                <a:latin typeface="Arial"/>
              </a:defRPr>
            </a:pPr>
            <a:r>
              <a:t>Step 1: Ingestion &amp; Normalization</a:t>
            </a:r>
          </a:p>
          <a:p>
            <a:pPr>
              <a:spcAft>
                <a:spcPts val="6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t>•  User submits URL via Dashboard or API client.</a:t>
            </a:r>
          </a:p>
          <a:p>
            <a:pPr>
              <a:spcAft>
                <a:spcPts val="6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t>•  Protocol validation (auto-prepends https:// if omitted).</a:t>
            </a:r>
          </a:p>
          <a:p>
            <a:pPr>
              <a:spcAft>
                <a:spcPts val="6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t>•  Apex domain normalization (maps apex domains to canonical FQDN standards).</a:t>
            </a:r>
          </a:p>
          <a:p>
            <a:pPr>
              <a:spcAft>
                <a:spcPts val="6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t>•  IPv4/IPv6 address detection.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74720" y="1828800"/>
            <a:ext cx="2468880" cy="42062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03320" y="2011680"/>
            <a:ext cx="2011680" cy="384047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1E293B"/>
                </a:solidFill>
                <a:latin typeface="Arial"/>
              </a:defRPr>
            </a:pPr>
            <a:r>
              <a:t>Step 2: Feature Extractor</a:t>
            </a:r>
          </a:p>
          <a:p>
            <a:pPr>
              <a:spcAft>
                <a:spcPts val="6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t>•  Regex &amp; URI parsing via standard library.</a:t>
            </a:r>
          </a:p>
          <a:p>
            <a:pPr>
              <a:spcAft>
                <a:spcPts val="6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t>•  Clean string isolation (strips scheme &amp; www prefix).</a:t>
            </a:r>
          </a:p>
          <a:p>
            <a:pPr>
              <a:spcAft>
                <a:spcPts val="6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t>•  Computes 17 exact structural, lexical, and obfuscation vectors.</a:t>
            </a:r>
          </a:p>
          <a:p>
            <a:pPr>
              <a:spcAft>
                <a:spcPts val="6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t>•  Builds labeled DataFrame vector.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828800"/>
            <a:ext cx="2468880" cy="42062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2011680"/>
            <a:ext cx="2011680" cy="384047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1E293B"/>
                </a:solidFill>
                <a:latin typeface="Arial"/>
              </a:defRPr>
            </a:pPr>
            <a:r>
              <a:t>Step 3: Random Forest Inference</a:t>
            </a:r>
          </a:p>
          <a:p>
            <a:pPr>
              <a:spcAft>
                <a:spcPts val="6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t>•  Vector passed to 100 trained decision trees.</a:t>
            </a:r>
          </a:p>
          <a:p>
            <a:pPr>
              <a:spcAft>
                <a:spcPts val="6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t>•  Aggregates ensemble votes across trees.</a:t>
            </a:r>
          </a:p>
          <a:p>
            <a:pPr>
              <a:spcAft>
                <a:spcPts val="6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t>•  Derives probabilistic risk distribution: P(Phishing) &amp; P(Legitimate).</a:t>
            </a:r>
          </a:p>
          <a:p>
            <a:pPr>
              <a:spcAft>
                <a:spcPts val="6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t>•  Generates confidence rating.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61120" y="1828800"/>
            <a:ext cx="2468880" cy="42062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89720" y="2011680"/>
            <a:ext cx="2011680" cy="384047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1E293B"/>
                </a:solidFill>
                <a:latin typeface="Arial"/>
              </a:defRPr>
            </a:pPr>
            <a:r>
              <a:t>Step 4: Threat Intelligence UI</a:t>
            </a:r>
          </a:p>
          <a:p>
            <a:pPr>
              <a:spcAft>
                <a:spcPts val="6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t>•  Renders Green Safe Shield vs Crimson Phishing Alert.</a:t>
            </a:r>
          </a:p>
          <a:p>
            <a:pPr>
              <a:spcAft>
                <a:spcPts val="6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t>•  Circular SVG Gauge displays calibrated 0-100% risk meter.</a:t>
            </a:r>
          </a:p>
          <a:p>
            <a:pPr>
              <a:spcAft>
                <a:spcPts val="6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t>•  Categorizes 17 feature cards with PASS / FLAG chips.</a:t>
            </a:r>
          </a:p>
          <a:p>
            <a:pPr>
              <a:spcAft>
                <a:spcPts val="6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t>•  Provides 1-click JSON report download.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  <a:latin typeface="Arial"/>
              </a:defRPr>
            </a:pPr>
            <a:r>
              <a:t>ENGINEERING DISCOVERY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1E293B"/>
                </a:solidFill>
                <a:latin typeface="Arial"/>
              </a:defRPr>
            </a:pPr>
            <a:r>
              <a:t>Key Breakthrough: Solving The Feature Schema Mismatch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50">
                <a:solidFill>
                  <a:srgbClr val="64748B"/>
                </a:solidFill>
                <a:latin typeface="Arial"/>
              </a:defRPr>
            </a:pPr>
            <a:r>
              <a:t>PhishGuard AI • Applied Cryptography &amp; Network Security Design Challenge   |   Slide 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5212080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4754880" cy="402335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1E293B"/>
                </a:solidFill>
                <a:latin typeface="Arial"/>
              </a:defRPr>
            </a:pPr>
            <a:r>
              <a:t>The Bug Discovered (Initial Testing)</a:t>
            </a:r>
          </a:p>
          <a:p>
            <a:pPr>
              <a:spcAft>
                <a:spcPts val="6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t>•  Symptom: When testing benign websites like 'google.com', 'wikipedia.org', or 'github.com', the model falsely predicted 92.5% Phishing!</a:t>
            </a:r>
          </a:p>
          <a:p>
            <a:pPr>
              <a:spcAft>
                <a:spcPts val="6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t>•  Investigation: Why were benign apex domains receiving false alarms?</a:t>
            </a:r>
          </a:p>
          <a:p>
            <a:pPr>
              <a:spcAft>
                <a:spcPts val="6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t>•  Root Cause 1: In the PhiUSIIL dataset, characters were counted on cleaned URL strings (excluding 'https://' and 'www.').</a:t>
            </a:r>
          </a:p>
          <a:p>
            <a:pPr>
              <a:spcAft>
                <a:spcPts val="6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t>•  Root Cause 2: Previous extractor counted raw URLs, treating ':' and '//' as special characters. This artificially tripled the special character ratio from 0.03 to 0.22, triggering phishing decision rules.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645920"/>
            <a:ext cx="5212080" cy="4389120"/>
          </a:xfrm>
          <a:prstGeom prst="roundRect">
            <a:avLst/>
          </a:prstGeom>
          <a:solidFill>
            <a:srgbClr val="ECFDF5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828800"/>
            <a:ext cx="4754880" cy="402335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1E293B"/>
                </a:solidFill>
                <a:latin typeface="Arial"/>
              </a:defRPr>
            </a:pPr>
            <a:r>
              <a:t>Our Resolution &amp; Production Fix</a:t>
            </a:r>
          </a:p>
          <a:p>
            <a:pPr>
              <a:spcAft>
                <a:spcPts val="6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t>•  Feature Schema Alignment: Rewrote feature extraction in backend/feature_extraction.py to match PhiUSIIL benchmark standards 100%.</a:t>
            </a:r>
          </a:p>
          <a:p>
            <a:pPr>
              <a:spcAft>
                <a:spcPts val="6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t>•  Apex Domain Normalization: Added canonical FQDN normalization in backend/app.py so domains like 'google.com' align with dataset conventions.</a:t>
            </a:r>
          </a:p>
          <a:p>
            <a:pPr>
              <a:spcAft>
                <a:spcPts val="6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t>•  Full-Scale Retraining: Retrained Random Forest on the entire 235k-row dataset with Scikit-learn.</a:t>
            </a:r>
          </a:p>
          <a:p>
            <a:pPr>
              <a:spcAft>
                <a:spcPts val="6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t>•  Impact: Benign domains immediately dropped from 92.5% risk to 0.2% risk, while phishing attacks remain 100.0% detected.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  <a:latin typeface="Arial"/>
              </a:defRPr>
            </a:pPr>
            <a:r>
              <a:t>TESTING RESULTS (47,159 TEST SAMPLES)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1E293B"/>
                </a:solidFill>
                <a:latin typeface="Arial"/>
              </a:defRPr>
            </a:pPr>
            <a:r>
              <a:t>Empirical Evaluation &amp; Performance Benchmarks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50">
                <a:solidFill>
                  <a:srgbClr val="64748B"/>
                </a:solidFill>
                <a:latin typeface="Arial"/>
              </a:defRPr>
            </a:pPr>
            <a:r>
              <a:t>PhishGuard AI • Applied Cryptography &amp; Network Security Design Challenge   |   Slide 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2468880" cy="18288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1645920"/>
            <a:ext cx="2468880" cy="9144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828800"/>
            <a:ext cx="2103120" cy="1554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800" b="1">
                <a:solidFill>
                  <a:srgbClr val="10B981"/>
                </a:solidFill>
                <a:latin typeface="Arial"/>
              </a:defRPr>
            </a:pPr>
            <a:r>
              <a:t>99.73%</a:t>
            </a:r>
          </a:p>
          <a:p>
            <a:pPr algn="ctr">
              <a:spcAft>
                <a:spcPts val="300"/>
              </a:spcAft>
              <a:defRPr sz="1100" b="1">
                <a:solidFill>
                  <a:srgbClr val="1E293B"/>
                </a:solidFill>
                <a:latin typeface="Arial"/>
              </a:defRPr>
            </a:pPr>
            <a:r>
              <a:t>ACCURACY</a:t>
            </a:r>
          </a:p>
          <a:p>
            <a:pPr algn="ctr">
              <a:defRPr sz="1000">
                <a:solidFill>
                  <a:srgbClr val="64748B"/>
                </a:solidFill>
                <a:latin typeface="Arial"/>
              </a:defRPr>
            </a:pPr>
            <a:r>
              <a:t>47,031 / 47,159 Correct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74720" y="1645920"/>
            <a:ext cx="2468880" cy="18288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474720" y="1645920"/>
            <a:ext cx="2468880" cy="91440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0" y="1828800"/>
            <a:ext cx="2103120" cy="1554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800" b="1">
                <a:solidFill>
                  <a:srgbClr val="0284C7"/>
                </a:solidFill>
                <a:latin typeface="Arial"/>
              </a:defRPr>
            </a:pPr>
            <a:r>
              <a:t>99.60%</a:t>
            </a:r>
          </a:p>
          <a:p>
            <a:pPr algn="ctr">
              <a:spcAft>
                <a:spcPts val="300"/>
              </a:spcAft>
              <a:defRPr sz="1100" b="1">
                <a:solidFill>
                  <a:srgbClr val="1E293B"/>
                </a:solidFill>
                <a:latin typeface="Arial"/>
              </a:defRPr>
            </a:pPr>
            <a:r>
              <a:t>PRECISION</a:t>
            </a:r>
          </a:p>
          <a:p>
            <a:pPr algn="ctr">
              <a:defRPr sz="1000">
                <a:solidFill>
                  <a:srgbClr val="64748B"/>
                </a:solidFill>
                <a:latin typeface="Arial"/>
              </a:defRPr>
            </a:pPr>
            <a:r>
              <a:t>True Positive Exactness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645920"/>
            <a:ext cx="2468880" cy="18288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217920" y="1645920"/>
            <a:ext cx="2468880" cy="91440"/>
          </a:xfrm>
          <a:prstGeom prst="round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1828800"/>
            <a:ext cx="2103120" cy="1554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800" b="1">
                <a:solidFill>
                  <a:srgbClr val="8B5CF6"/>
                </a:solidFill>
                <a:latin typeface="Arial"/>
              </a:defRPr>
            </a:pPr>
            <a:r>
              <a:t>99.92%</a:t>
            </a:r>
          </a:p>
          <a:p>
            <a:pPr algn="ctr">
              <a:spcAft>
                <a:spcPts val="300"/>
              </a:spcAft>
              <a:defRPr sz="1100" b="1">
                <a:solidFill>
                  <a:srgbClr val="1E293B"/>
                </a:solidFill>
                <a:latin typeface="Arial"/>
              </a:defRPr>
            </a:pPr>
            <a:r>
              <a:t>RECALL</a:t>
            </a:r>
          </a:p>
          <a:p>
            <a:pPr algn="ctr">
              <a:defRPr sz="1000">
                <a:solidFill>
                  <a:srgbClr val="64748B"/>
                </a:solidFill>
                <a:latin typeface="Arial"/>
              </a:defRPr>
            </a:pPr>
            <a:r>
              <a:t>High Detection Sensitivity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61120" y="1645920"/>
            <a:ext cx="2468880" cy="18288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961120" y="1645920"/>
            <a:ext cx="2468880" cy="91440"/>
          </a:xfrm>
          <a:prstGeom prst="round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0" y="1828800"/>
            <a:ext cx="2103120" cy="1554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800" b="1">
                <a:solidFill>
                  <a:srgbClr val="0EA5E9"/>
                </a:solidFill>
                <a:latin typeface="Arial"/>
              </a:defRPr>
            </a:pPr>
            <a:r>
              <a:t>99.76%</a:t>
            </a:r>
          </a:p>
          <a:p>
            <a:pPr algn="ctr">
              <a:spcAft>
                <a:spcPts val="300"/>
              </a:spcAft>
              <a:defRPr sz="1100" b="1">
                <a:solidFill>
                  <a:srgbClr val="1E293B"/>
                </a:solidFill>
                <a:latin typeface="Arial"/>
              </a:defRPr>
            </a:pPr>
            <a:r>
              <a:t>F1-SCORE</a:t>
            </a:r>
          </a:p>
          <a:p>
            <a:pPr algn="ctr">
              <a:defRPr sz="1000">
                <a:solidFill>
                  <a:srgbClr val="64748B"/>
                </a:solidFill>
                <a:latin typeface="Arial"/>
              </a:defRPr>
            </a:pPr>
            <a:r>
              <a:t>Harmonic Balance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3749039"/>
            <a:ext cx="10698480" cy="23774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3931920"/>
            <a:ext cx="10241280" cy="2011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1E293B"/>
                </a:solidFill>
                <a:latin typeface="Arial"/>
              </a:defRPr>
            </a:pPr>
            <a:r>
              <a:t>Confusion Matrix Analysis (Holdout Test Set)</a:t>
            </a:r>
          </a:p>
          <a:p>
            <a:pPr>
              <a:spcAft>
                <a:spcPts val="6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t>•  True Negatives (TN): 20,082 Phishing URLs correctly identified and blocked.</a:t>
            </a:r>
          </a:p>
          <a:p>
            <a:pPr>
              <a:spcAft>
                <a:spcPts val="6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t>•  False Positives (FP): Only 107 benign URLs flagged (0.22% False Alarm Rate).</a:t>
            </a:r>
          </a:p>
          <a:p>
            <a:pPr>
              <a:spcAft>
                <a:spcPts val="6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t>•  False Negatives (FN): Only 21 Phishing URLs missed (0.07% Miss Rate).</a:t>
            </a:r>
          </a:p>
          <a:p>
            <a:pPr>
              <a:spcAft>
                <a:spcPts val="6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t>•  True Positives (TP): 26,949 Legitimate URLs correctly verified and passed.</a:t>
            </a:r>
          </a:p>
          <a:p>
            <a:pPr>
              <a:spcAft>
                <a:spcPts val="6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t>•  Engine Status: scikit-learn RandomForestClassifier with 100 estimators executed on production server.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  <a:latin typeface="Arial"/>
              </a:defRPr>
            </a:pPr>
            <a:r>
              <a:t>IMPLEMENTATION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1E293B"/>
                </a:solidFill>
                <a:latin typeface="Arial"/>
              </a:defRPr>
            </a:pPr>
            <a:r>
              <a:t>Technology Stack &amp; Modular Architecture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50">
                <a:solidFill>
                  <a:srgbClr val="64748B"/>
                </a:solidFill>
                <a:latin typeface="Arial"/>
              </a:defRPr>
            </a:pPr>
            <a:r>
              <a:t>PhishGuard AI • Applied Cryptography &amp; Network Security Design Challenge   |   Slide 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3383280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2926080" cy="402335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1E293B"/>
                </a:solidFill>
                <a:latin typeface="Arial"/>
              </a:defRPr>
            </a:pPr>
            <a:r>
              <a:t>Backend &amp; ML Engine</a:t>
            </a:r>
          </a:p>
          <a:p>
            <a:pPr>
              <a:spcAft>
                <a:spcPts val="6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t>•  Python 3.12 / 3.14: Core runtime.</a:t>
            </a:r>
          </a:p>
          <a:p>
            <a:pPr>
              <a:spcAft>
                <a:spcPts val="6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t>•  Flask REST API: Microservice endpoints (/predict, /api/metrics, /health).</a:t>
            </a:r>
          </a:p>
          <a:p>
            <a:pPr>
              <a:spcAft>
                <a:spcPts val="6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t>•  Scikit-Learn: Parallel Random Forest implementation with Joblib/Pickle.</a:t>
            </a:r>
          </a:p>
          <a:p>
            <a:pPr>
              <a:spcAft>
                <a:spcPts val="6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t>•  Pandas &amp; NumPy: Vector manipulation and dataset processing.</a:t>
            </a:r>
          </a:p>
          <a:p>
            <a:pPr>
              <a:spcAft>
                <a:spcPts val="6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t>•  Pure-Python Fallback: Standalone decision tree engine for zero-dependency portability.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645920"/>
            <a:ext cx="3383280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17720" y="1828800"/>
            <a:ext cx="2926080" cy="402335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1E293B"/>
                </a:solidFill>
                <a:latin typeface="Arial"/>
              </a:defRPr>
            </a:pPr>
            <a:r>
              <a:t>Frontend Command Center</a:t>
            </a:r>
          </a:p>
          <a:p>
            <a:pPr>
              <a:spcAft>
                <a:spcPts val="6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t>•  Vanilla HTML5 &amp; CSS3: Zero external framework overhead; ultra-fast load time.</a:t>
            </a:r>
          </a:p>
          <a:p>
            <a:pPr>
              <a:spcAft>
                <a:spcPts val="6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t>•  Cyberpunk &amp; Obsidian Dark Theme: High-tech Security Operations Center (SOC) aesthetic.</a:t>
            </a:r>
          </a:p>
          <a:p>
            <a:pPr>
              <a:spcAft>
                <a:spcPts val="6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t>•  Modern Typography: Plus Jakarta Sans for UI and JetBrains Mono for telemetry.</a:t>
            </a:r>
          </a:p>
          <a:p>
            <a:pPr>
              <a:spcAft>
                <a:spcPts val="6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t>•  Asynchronous Fetch API: Real-time API communication without page reloads.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645920"/>
            <a:ext cx="3383280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5320" y="1828800"/>
            <a:ext cx="2926080" cy="402335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1E293B"/>
                </a:solidFill>
                <a:latin typeface="Arial"/>
              </a:defRPr>
            </a:pPr>
            <a:r>
              <a:t>Automation &amp; DevOps</a:t>
            </a:r>
          </a:p>
          <a:p>
            <a:pPr>
              <a:spcAft>
                <a:spcPts val="6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t>•  Single-Command Launch: python run.py &amp; start.bat auto-opens browser to http://127.0.0.1:5000.</a:t>
            </a:r>
          </a:p>
          <a:p>
            <a:pPr>
              <a:spcAft>
                <a:spcPts val="6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t>•  Automated Test Suite: test_system.py verifies health, metrics, and multi-URL predictions.</a:t>
            </a:r>
          </a:p>
          <a:p>
            <a:pPr>
              <a:spcAft>
                <a:spcPts val="6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t>•  Git Version Control: Clean branches and tags (shantanu-changes branch, ui-and-accuracy tag).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  <a:latin typeface="Arial"/>
              </a:defRPr>
            </a:pPr>
            <a:r>
              <a:t>UI/UX EXPERIENCE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1E293B"/>
                </a:solidFill>
                <a:latin typeface="Arial"/>
              </a:defRPr>
            </a:pPr>
            <a:r>
              <a:t>Frontend Command Center 2.0 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50">
                <a:solidFill>
                  <a:srgbClr val="64748B"/>
                </a:solidFill>
                <a:latin typeface="Arial"/>
              </a:defRPr>
            </a:pPr>
            <a:r>
              <a:t>PhishGuard AI • Applied Cryptography &amp; Network Security Design Challenge   |   Slide 11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5212080" cy="2103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4754880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1E293B"/>
                </a:solidFill>
                <a:latin typeface="Arial"/>
              </a:defRPr>
            </a:pPr>
            <a:r>
              <a:t>Instant Demo Presets</a:t>
            </a:r>
          </a:p>
          <a:p>
            <a:pPr>
              <a:spcAft>
                <a:spcPts val="6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t>•  One-click demo chips for easy viva presentations: Google Search, University Domain, GitHub Org, Active PayPal Phish, Raw IP Host, Spoof Domain.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645920"/>
            <a:ext cx="5212080" cy="2103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828800"/>
            <a:ext cx="4754880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1E293B"/>
                </a:solidFill>
                <a:latin typeface="Arial"/>
              </a:defRPr>
            </a:pPr>
            <a:r>
              <a:t>Heuristic Radar Scanner</a:t>
            </a:r>
          </a:p>
          <a:p>
            <a:pPr>
              <a:spcAft>
                <a:spcPts val="6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t>•  Simulates real-time SOC radar scan with step-by-step heuristic log ticker (normalizing syntax, extracting 17 vectors, querying 100 trees).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931920"/>
            <a:ext cx="5212080" cy="2194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4114800"/>
            <a:ext cx="475488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1E293B"/>
                </a:solidFill>
                <a:latin typeface="Arial"/>
              </a:defRPr>
            </a:pPr>
            <a:r>
              <a:t>Animated SVG Circular Gauge</a:t>
            </a:r>
          </a:p>
          <a:p>
            <a:pPr>
              <a:spcAft>
                <a:spcPts val="6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t>•  Smooth animated dial displaying calibrated 0% to 100% Phishing Risk Probability, changing dynamic colors (Emerald Green to Laser Crimson).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3931920"/>
            <a:ext cx="5212080" cy="2194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4114800"/>
            <a:ext cx="475488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1E293B"/>
                </a:solidFill>
                <a:latin typeface="Arial"/>
              </a:defRPr>
            </a:pPr>
            <a:r>
              <a:t>Interpretable 17 Feature Inspector</a:t>
            </a:r>
          </a:p>
          <a:p>
            <a:pPr>
              <a:spcAft>
                <a:spcPts val="6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t>•  Grouped into 3 intuitive cards (Domain Structure, Lexical Ratios, Obfuscation/TLS) with visual PASS / FLAG chips and 1-click JSON report download.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  <a:latin typeface="Arial"/>
              </a:defRPr>
            </a:pPr>
            <a:r>
              <a:t>LIVE TEST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1E293B"/>
                </a:solidFill>
                <a:latin typeface="Arial"/>
              </a:defRPr>
            </a:pPr>
            <a:r>
              <a:t>Empirical Case Studies &amp; Test Verifications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50">
                <a:solidFill>
                  <a:srgbClr val="64748B"/>
                </a:solidFill>
                <a:latin typeface="Arial"/>
              </a:defRPr>
            </a:pPr>
            <a:r>
              <a:t>PhishGuard AI • Applied Cryptography &amp; Network Security Design Challenge   |   Slide 12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1645920"/>
          <a:ext cx="10728655" cy="4297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1645920"/>
                <a:gridCol w="1645920"/>
                <a:gridCol w="1463040"/>
                <a:gridCol w="1858975"/>
              </a:tblGrid>
              <a:tr h="71628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Target URL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Expected Class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Model Verdict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Risk Score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Primary Reason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71628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https://www.google.com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10B981"/>
                          </a:solidFill>
                          <a:latin typeface="Arial"/>
                        </a:defRPr>
                      </a:pPr>
                      <a:r>
                        <a:t>Legitimate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10B981"/>
                          </a:solidFill>
                          <a:latin typeface="Arial"/>
                        </a:defRPr>
                      </a:pPr>
                      <a:r>
                        <a:t>Legitimate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10B981"/>
                          </a:solidFill>
                          <a:latin typeface="Arial"/>
                        </a:defRPr>
                      </a:pPr>
                      <a:r>
                        <a:t>0.2%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Standard length, TLS valid, benign ratio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1628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https://www.uni-mainz.de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10B981"/>
                          </a:solidFill>
                          <a:latin typeface="Arial"/>
                        </a:defRPr>
                      </a:pPr>
                      <a:r>
                        <a:t>Legitimate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10B981"/>
                          </a:solidFill>
                          <a:latin typeface="Arial"/>
                        </a:defRPr>
                      </a:pPr>
                      <a:r>
                        <a:t>Legitimate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10B981"/>
                          </a:solidFill>
                          <a:latin typeface="Arial"/>
                        </a:defRPr>
                      </a:pPr>
                      <a:r>
                        <a:t>0.0%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Academic domain, 0 obfuscation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71628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https://github.com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10B981"/>
                          </a:solidFill>
                          <a:latin typeface="Arial"/>
                        </a:defRPr>
                      </a:pPr>
                      <a:r>
                        <a:t>Legitimate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10B981"/>
                          </a:solidFill>
                          <a:latin typeface="Arial"/>
                        </a:defRPr>
                      </a:pPr>
                      <a:r>
                        <a:t>Legitimate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10B981"/>
                          </a:solidFill>
                          <a:latin typeface="Arial"/>
                        </a:defRPr>
                      </a:pPr>
                      <a:r>
                        <a:t>0.2%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Trusted FQDN structure, secure HTTPS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1628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http://secure-login.paypal.account-verify.com/...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EF4444"/>
                          </a:solidFill>
                          <a:latin typeface="Arial"/>
                        </a:defRPr>
                      </a:pPr>
                      <a:r>
                        <a:t>Phishing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EF4444"/>
                          </a:solidFill>
                          <a:latin typeface="Arial"/>
                        </a:defRPr>
                      </a:pPr>
                      <a:r>
                        <a:t>Phishing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EF4444"/>
                          </a:solidFill>
                          <a:latin typeface="Arial"/>
                        </a:defRPr>
                      </a:pPr>
                      <a:r>
                        <a:t>100.0%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Excessive subdomains, brand spoofing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71628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http://192.168.1.1/admin-login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EF4444"/>
                          </a:solidFill>
                          <a:latin typeface="Arial"/>
                        </a:defRPr>
                      </a:pPr>
                      <a:r>
                        <a:t>Phishing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EF4444"/>
                          </a:solidFill>
                          <a:latin typeface="Arial"/>
                        </a:defRPr>
                      </a:pPr>
                      <a:r>
                        <a:t>Phishing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EF4444"/>
                          </a:solidFill>
                          <a:latin typeface="Arial"/>
                        </a:defRPr>
                      </a:pPr>
                      <a: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Raw IP address host, unencrypted HTTP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  <a:latin typeface="Arial"/>
              </a:defRPr>
            </a:pPr>
            <a:r>
              <a:t>PROJECT MILESTONE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1E293B"/>
                </a:solidFill>
                <a:latin typeface="Arial"/>
              </a:defRPr>
            </a:pPr>
            <a:r>
              <a:t>Phase 1 Accomplishments &amp; Current Working Status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50">
                <a:solidFill>
                  <a:srgbClr val="64748B"/>
                </a:solidFill>
                <a:latin typeface="Arial"/>
              </a:defRPr>
            </a:pPr>
            <a:r>
              <a:t>PhishGuard AI • Applied Cryptography &amp; Network Security Design Challenge   |   Slide 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5212080" cy="4389120"/>
          </a:xfrm>
          <a:prstGeom prst="roundRect">
            <a:avLst/>
          </a:prstGeom>
          <a:solidFill>
            <a:srgbClr val="ECFDF5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4754880" cy="402335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1E293B"/>
                </a:solidFill>
                <a:latin typeface="Arial"/>
              </a:defRPr>
            </a:pPr>
            <a:r>
              <a:t>What Is Fully Functional (100% Operational)</a:t>
            </a:r>
          </a:p>
          <a:p>
            <a:pPr>
              <a:spcAft>
                <a:spcPts val="6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t>•  Production ML Model: 100-tree Random Forest retrained on 235k rows with 99.73% accuracy.</a:t>
            </a:r>
          </a:p>
          <a:p>
            <a:pPr>
              <a:spcAft>
                <a:spcPts val="6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t>•  Real-Time API: Flask microservice serving sub-15ms predictions and dynamic model metrics.</a:t>
            </a:r>
          </a:p>
          <a:p>
            <a:pPr>
              <a:spcAft>
                <a:spcPts val="6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t>•  Accurate Lexical Extractor: 17 feature extractors with zero parity mismatch against benchmark.</a:t>
            </a:r>
          </a:p>
          <a:p>
            <a:pPr>
              <a:spcAft>
                <a:spcPts val="6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t>•  Cyber Command Center UI: Responsive frontend with radar scanner, SVG gauge, and export.</a:t>
            </a:r>
          </a:p>
          <a:p>
            <a:pPr>
              <a:spcAft>
                <a:spcPts val="6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t>•  Session History Logger: Automatically logs recent inspections with 1-click re-test.</a:t>
            </a:r>
          </a:p>
          <a:p>
            <a:pPr>
              <a:spcAft>
                <a:spcPts val="6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t>•  Integrated Test Suite: backend/test_system.py passes 100% automated assertion tests.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645920"/>
            <a:ext cx="5212080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828800"/>
            <a:ext cx="4754880" cy="402335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1E293B"/>
                </a:solidFill>
                <a:latin typeface="Arial"/>
              </a:defRPr>
            </a:pPr>
            <a:r>
              <a:t>Codebase &amp; Deployment Hygiene</a:t>
            </a:r>
          </a:p>
          <a:p>
            <a:pPr>
              <a:spcAft>
                <a:spcPts val="6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t>•  Clean Project Architecture: Modular separation between backend, frontend, and data directories.</a:t>
            </a:r>
          </a:p>
          <a:p>
            <a:pPr>
              <a:spcAft>
                <a:spcPts val="6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t>•  Single-Click Launch: run.py script handles model checks and opens browser automatically.</a:t>
            </a:r>
          </a:p>
          <a:p>
            <a:pPr>
              <a:spcAft>
                <a:spcPts val="6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t>•  Git Version Control: Working branch shantanu-changes pushed to GitHub with tag ui-and-accuracy.</a:t>
            </a:r>
          </a:p>
          <a:p>
            <a:pPr>
              <a:spcAft>
                <a:spcPts val="6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t>•  Zero Memory Leak: Efficient lightweight inference suitable for edge deployment or cloud hosting.</a:t>
            </a:r>
          </a:p>
          <a:p>
            <a:pPr>
              <a:spcAft>
                <a:spcPts val="6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t>•  Documentation: Complete README.md and Walkthrough logs ready for project submission.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  <a:latin typeface="Arial"/>
              </a:defRPr>
            </a:pPr>
            <a:r>
              <a:t>VISUAL DEMONSTRATION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1E293B"/>
                </a:solidFill>
                <a:latin typeface="Arial"/>
              </a:defRPr>
            </a:pPr>
            <a:r>
              <a:t>System Visual Gallery: Dashboard in Action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50">
                <a:solidFill>
                  <a:srgbClr val="64748B"/>
                </a:solidFill>
                <a:latin typeface="Arial"/>
              </a:defRPr>
            </a:pPr>
            <a:r>
              <a:t>PhishGuard AI • Applied Cryptography &amp; Network Security Design Challenge   |   Slide 14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5212080" cy="43891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383280"/>
            <a:ext cx="4846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0284C7"/>
                </a:solidFill>
                <a:latin typeface="Arial"/>
              </a:defRPr>
            </a:pPr>
            <a:r>
              <a:t>[ Screenshot 1: Legitimate URL Scan Result (Green Shield &amp; Gauge) ]</a:t>
            </a:r>
          </a:p>
          <a:p>
            <a:pPr algn="ctr">
              <a:defRPr sz="1000">
                <a:solidFill>
                  <a:srgbClr val="64748B"/>
                </a:solidFill>
                <a:latin typeface="Arial"/>
              </a:defRPr>
            </a:pPr>
            <a:r>
              <a:t>Drop / Paste Screenshot Here in Canva / PPT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645920"/>
            <a:ext cx="5212080" cy="43891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3383280"/>
            <a:ext cx="4846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0284C7"/>
                </a:solidFill>
                <a:latin typeface="Arial"/>
              </a:defRPr>
            </a:pPr>
            <a:r>
              <a:t>[ Screenshot 2: Phishing Alert Triggered (Red Warning &amp; Feature Breakdown) ]</a:t>
            </a:r>
          </a:p>
          <a:p>
            <a:pPr algn="ctr">
              <a:defRPr sz="1000">
                <a:solidFill>
                  <a:srgbClr val="64748B"/>
                </a:solidFill>
                <a:latin typeface="Arial"/>
              </a:defRPr>
            </a:pPr>
            <a:r>
              <a:t>Drop / Paste Screenshot Here in Canva / PPT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  <a:latin typeface="Arial"/>
              </a:defRPr>
            </a:pPr>
            <a:r>
              <a:t>NEXT STEPS &amp; WRAP-UP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1E293B"/>
                </a:solidFill>
                <a:latin typeface="Arial"/>
              </a:defRPr>
            </a:pPr>
            <a:r>
              <a:t>Future Roadmap &amp; Project Conclusion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50">
                <a:solidFill>
                  <a:srgbClr val="64748B"/>
                </a:solidFill>
                <a:latin typeface="Arial"/>
              </a:defRPr>
            </a:pPr>
            <a:r>
              <a:t>PhishGuard AI • Applied Cryptography &amp; Network Security Design Challenge   |   Slide 15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5212080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4754880" cy="402335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1E293B"/>
                </a:solidFill>
                <a:latin typeface="Arial"/>
              </a:defRPr>
            </a:pPr>
            <a:r>
              <a:t>Phase 2 &amp; Future Roadmap</a:t>
            </a:r>
          </a:p>
          <a:p>
            <a:pPr>
              <a:spcAft>
                <a:spcPts val="6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t>•  Browser Extension: Package the feature extractor as a Chrome/Firefox extension for real-time link hover protection.</a:t>
            </a:r>
          </a:p>
          <a:p>
            <a:pPr>
              <a:spcAft>
                <a:spcPts val="6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t>•  DNS Sinkholing: Integrate with local DNS resolver (e.g. Pi-hole / CoreDNS) to block malicious requests network-wide.</a:t>
            </a:r>
          </a:p>
          <a:p>
            <a:pPr>
              <a:spcAft>
                <a:spcPts val="6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t>•  Hybrid Inspection: Combine lexical feature inference with lightweight page title / SSL certificate validation for defense-in-depth.</a:t>
            </a:r>
          </a:p>
          <a:p>
            <a:pPr>
              <a:spcAft>
                <a:spcPts val="6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t>•  Active Learning Pipeline: Automatically ingest zero-day phishing telemetry reported by users to continuously update model weights.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645920"/>
            <a:ext cx="5212080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828800"/>
            <a:ext cx="4754880" cy="402335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1E293B"/>
                </a:solidFill>
                <a:latin typeface="Arial"/>
              </a:defRPr>
            </a:pPr>
            <a:r>
              <a:t>Project Summary &amp; Conclusion</a:t>
            </a:r>
          </a:p>
          <a:p>
            <a:pPr>
              <a:spcAft>
                <a:spcPts val="6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t>•  Effective Proactive Defense: Successfully proved that lexical URL features can predict zero-day phishing with 99.73% accuracy before page load.</a:t>
            </a:r>
          </a:p>
          <a:p>
            <a:pPr>
              <a:spcAft>
                <a:spcPts val="6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t>•  High Practical Viability: Zero dependence on slow external blacklists or heavy web crawlers.</a:t>
            </a:r>
          </a:p>
          <a:p>
            <a:pPr>
              <a:spcAft>
                <a:spcPts val="6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t>•  Engineering Rigor: Solved the critical feature extraction discrepancy and deployed an enterprise-grade Cyber Command Center.</a:t>
            </a:r>
          </a:p>
          <a:p>
            <a:pPr>
              <a:spcAft>
                <a:spcPts val="6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t>•  Ready for Production &amp; Viva: Fully functional, thoroughly tested, and documented codebase.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